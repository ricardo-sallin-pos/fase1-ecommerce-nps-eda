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278b152d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278b152d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278b152d1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278b152d1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8f81e61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d8f81e61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a662bff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9a662bff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a662bff4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a662bff4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a662bff4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a662bff4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a662bff4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a662bff4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0" y="0"/>
            <a:ext cx="9144000" cy="5143501"/>
            <a:chOff x="0" y="0"/>
            <a:chExt cx="9144000" cy="5143501"/>
          </a:xfrm>
        </p:grpSpPr>
        <p:sp>
          <p:nvSpPr>
            <p:cNvPr id="55" name="Google Shape;55;p13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6" name="Google Shape;56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5850" y="0"/>
              <a:ext cx="3732300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7" name="Google Shape;57;p13"/>
          <p:cNvSpPr txBox="1"/>
          <p:nvPr>
            <p:ph type="ctrTitle"/>
          </p:nvPr>
        </p:nvSpPr>
        <p:spPr>
          <a:xfrm>
            <a:off x="600" y="1130675"/>
            <a:ext cx="63492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2"/>
                </a:solidFill>
              </a:rPr>
              <a:t>Como prever (e agir sobre) a experiência do cliente antes do NPS</a:t>
            </a:r>
            <a:endParaRPr sz="4000">
              <a:solidFill>
                <a:schemeClr val="lt2"/>
              </a:solidFill>
            </a:endParaRPr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450" y="3220225"/>
            <a:ext cx="63492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Fiap Pós - AI Scientist</a:t>
            </a:r>
            <a:endParaRPr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2026</a:t>
            </a:r>
            <a:endParaRPr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Fase 1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5593314" y="2524729"/>
            <a:ext cx="3248100" cy="2628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</a:rPr>
              <a:t>Grupo: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</a:rPr>
              <a:t>Ricardo Sallin - RM 372803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</a:rPr>
              <a:t>Bruno Saralha - RM 370184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</a:rPr>
              <a:t>Fernando Medeiros - RM 370318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</a:rPr>
              <a:t>Rodrigo Alves - RM 372519</a:t>
            </a:r>
            <a:endParaRPr sz="16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14"/>
          <p:cNvGrpSpPr/>
          <p:nvPr/>
        </p:nvGrpSpPr>
        <p:grpSpPr>
          <a:xfrm>
            <a:off x="0" y="0"/>
            <a:ext cx="9144000" cy="5143501"/>
            <a:chOff x="0" y="0"/>
            <a:chExt cx="9144000" cy="5143501"/>
          </a:xfrm>
        </p:grpSpPr>
        <p:sp>
          <p:nvSpPr>
            <p:cNvPr id="65" name="Google Shape;65;p14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6" name="Google Shape;66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5850" y="0"/>
              <a:ext cx="3732300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1.1 Qual problema de negócio está sendo resolvido?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311700" y="2234650"/>
            <a:ext cx="5673300" cy="245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</a:rPr>
              <a:t>NPS baixando e pouco previsível: como torná-lo </a:t>
            </a:r>
            <a:r>
              <a:rPr b="1" lang="en" sz="1600">
                <a:solidFill>
                  <a:schemeClr val="lt2"/>
                </a:solidFill>
              </a:rPr>
              <a:t>acionável?</a:t>
            </a:r>
            <a:endParaRPr b="1"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" sz="1600">
                <a:solidFill>
                  <a:schemeClr val="lt2"/>
                </a:solidFill>
              </a:rPr>
              <a:t>Existem variáveis ocultas? Interações entre elas?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" sz="1600">
                <a:solidFill>
                  <a:schemeClr val="lt2"/>
                </a:solidFill>
              </a:rPr>
              <a:t>Inconsistência de experiência? Clientes diferentes?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" sz="1600">
                <a:solidFill>
                  <a:schemeClr val="lt2"/>
                </a:solidFill>
              </a:rPr>
              <a:t>Gerar alertas acionáveis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" sz="1600">
                <a:solidFill>
                  <a:schemeClr val="lt2"/>
                </a:solidFill>
              </a:rPr>
              <a:t>Priorizar esforços em pedidos e áreas (logística, atendimento, produto)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lt2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11700" y="1310050"/>
            <a:ext cx="8435700" cy="9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</a:rPr>
              <a:t>Direto do PDF Case: </a:t>
            </a:r>
            <a:r>
              <a:rPr i="1" lang="en">
                <a:solidFill>
                  <a:schemeClr val="lt2"/>
                </a:solidFill>
              </a:rPr>
              <a:t>"Quais fatores </a:t>
            </a:r>
            <a:r>
              <a:rPr i="1" lang="en">
                <a:solidFill>
                  <a:schemeClr val="lt2"/>
                </a:solidFill>
              </a:rPr>
              <a:t>operacionais </a:t>
            </a:r>
            <a:r>
              <a:rPr i="1" lang="en">
                <a:solidFill>
                  <a:schemeClr val="lt2"/>
                </a:solidFill>
              </a:rPr>
              <a:t>influenciam a satisfação do cliente (...) antes da aplicação da pesquisa de NPS?"</a:t>
            </a:r>
            <a:endParaRPr i="1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300">
              <a:solidFill>
                <a:schemeClr val="lt2"/>
              </a:solidFill>
            </a:endParaRPr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6183650" y="2234650"/>
            <a:ext cx="2777700" cy="23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Possíveis abordagens:</a:t>
            </a:r>
            <a:endParaRPr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b="1" lang="en" sz="1600">
                <a:solidFill>
                  <a:schemeClr val="lt2"/>
                </a:solidFill>
              </a:rPr>
              <a:t>Análise exploratória (EDA)</a:t>
            </a:r>
            <a:endParaRPr b="1"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b="1" lang="en" sz="1600">
                <a:solidFill>
                  <a:schemeClr val="lt2"/>
                </a:solidFill>
              </a:rPr>
              <a:t>E</a:t>
            </a:r>
            <a:r>
              <a:rPr b="1" lang="en" sz="1600">
                <a:solidFill>
                  <a:schemeClr val="lt2"/>
                </a:solidFill>
              </a:rPr>
              <a:t>xplicabilidade de features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" sz="1600">
                <a:solidFill>
                  <a:schemeClr val="lt2"/>
                </a:solidFill>
              </a:rPr>
              <a:t>Storytelling</a:t>
            </a:r>
            <a:endParaRPr sz="16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15"/>
          <p:cNvGrpSpPr/>
          <p:nvPr/>
        </p:nvGrpSpPr>
        <p:grpSpPr>
          <a:xfrm>
            <a:off x="0" y="0"/>
            <a:ext cx="9144000" cy="5143501"/>
            <a:chOff x="0" y="0"/>
            <a:chExt cx="9144000" cy="5143501"/>
          </a:xfrm>
        </p:grpSpPr>
        <p:sp>
          <p:nvSpPr>
            <p:cNvPr id="76" name="Google Shape;76;p15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7" name="Google Shape;77;p1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5850" y="0"/>
              <a:ext cx="3732300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1204703"/>
            <a:ext cx="4260300" cy="12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" sz="1600">
                <a:solidFill>
                  <a:schemeClr val="lt2"/>
                </a:solidFill>
              </a:rPr>
              <a:t>Mensurar a lealdade do cliente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" sz="1600">
                <a:solidFill>
                  <a:schemeClr val="lt2"/>
                </a:solidFill>
              </a:rPr>
              <a:t>Baixa barreira para o churn (troca de e-commerce)</a:t>
            </a:r>
            <a:endParaRPr sz="1600">
              <a:solidFill>
                <a:schemeClr val="lt2"/>
              </a:solidFill>
            </a:endParaRPr>
          </a:p>
        </p:txBody>
      </p:sp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5407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1.2 Por que o NPS é importante?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3486358"/>
            <a:ext cx="8120400" cy="105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" sz="1600">
                <a:solidFill>
                  <a:schemeClr val="lt2"/>
                </a:solidFill>
              </a:rPr>
              <a:t>Maior foco nas mais operacionais: Logística (atrasos), atendimento (scripts)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" sz="1600">
                <a:solidFill>
                  <a:schemeClr val="lt2"/>
                </a:solidFill>
              </a:rPr>
              <a:t>Mas indiretamente, todas: Produto, Pricing, Estratégia/Growth…</a:t>
            </a:r>
            <a:endParaRPr sz="1600">
              <a:solidFill>
                <a:schemeClr val="lt2"/>
              </a:solidFill>
            </a:endParaRPr>
          </a:p>
        </p:txBody>
      </p:sp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279250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1.3 Quais áreas podem se beneficiar?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4572001" y="1204703"/>
            <a:ext cx="4411500" cy="124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" sz="1600">
                <a:solidFill>
                  <a:schemeClr val="lt2"/>
                </a:solidFill>
              </a:rPr>
              <a:t>Receita é dependente da recorrência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" sz="1600">
                <a:solidFill>
                  <a:schemeClr val="lt2"/>
                </a:solidFill>
              </a:rPr>
              <a:t>NPS baixo significa risco de churn</a:t>
            </a:r>
            <a:endParaRPr sz="16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16"/>
          <p:cNvGrpSpPr/>
          <p:nvPr/>
        </p:nvGrpSpPr>
        <p:grpSpPr>
          <a:xfrm>
            <a:off x="0" y="0"/>
            <a:ext cx="9144000" cy="5143501"/>
            <a:chOff x="0" y="0"/>
            <a:chExt cx="9144000" cy="5143501"/>
          </a:xfrm>
        </p:grpSpPr>
        <p:sp>
          <p:nvSpPr>
            <p:cNvPr id="88" name="Google Shape;88;p16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9" name="Google Shape;89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5850" y="0"/>
              <a:ext cx="3732300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1152475"/>
            <a:ext cx="8784600" cy="3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</a:rPr>
              <a:t>Começamos com uma análise exploratória para entender melhor os dados: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" sz="1600">
                <a:solidFill>
                  <a:schemeClr val="accent4"/>
                </a:solidFill>
              </a:rPr>
              <a:t>88,9%</a:t>
            </a:r>
            <a:r>
              <a:rPr lang="en" sz="1600">
                <a:solidFill>
                  <a:schemeClr val="lt2"/>
                </a:solidFill>
              </a:rPr>
              <a:t> dos pedidos tiveram atraso, sendo 39,5% com 3+ dias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" sz="1600">
                <a:solidFill>
                  <a:schemeClr val="accent4"/>
                </a:solidFill>
              </a:rPr>
              <a:t>82,4% </a:t>
            </a:r>
            <a:r>
              <a:rPr lang="en" sz="1600">
                <a:solidFill>
                  <a:schemeClr val="lt2"/>
                </a:solidFill>
              </a:rPr>
              <a:t>fizeram 2+ reclamações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" sz="1600">
                <a:solidFill>
                  <a:schemeClr val="accent4"/>
                </a:solidFill>
              </a:rPr>
              <a:t>77,9%</a:t>
            </a:r>
            <a:r>
              <a:rPr lang="en" sz="1600">
                <a:solidFill>
                  <a:schemeClr val="lt2"/>
                </a:solidFill>
              </a:rPr>
              <a:t> dos pedidos precisaram fazer contato com Atendimento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" sz="1600">
                <a:solidFill>
                  <a:schemeClr val="accent4"/>
                </a:solidFill>
              </a:rPr>
              <a:t>65,6%</a:t>
            </a:r>
            <a:r>
              <a:rPr lang="en" sz="1600">
                <a:solidFill>
                  <a:schemeClr val="lt2"/>
                </a:solidFill>
              </a:rPr>
              <a:t> levaram 3+ dias para resolver o problema com Atendimento</a:t>
            </a:r>
            <a:endParaRPr sz="1600">
              <a:solidFill>
                <a:schemeClr val="lt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●"/>
            </a:pPr>
            <a:r>
              <a:rPr lang="en" sz="1600">
                <a:solidFill>
                  <a:schemeClr val="accent4"/>
                </a:solidFill>
              </a:rPr>
              <a:t>2/3 </a:t>
            </a:r>
            <a:r>
              <a:rPr lang="en" sz="1600">
                <a:solidFill>
                  <a:schemeClr val="lt2"/>
                </a:solidFill>
              </a:rPr>
              <a:t>dos pedidos fizeram 2+ tentativas de entrega (não conseguiram na primeira)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</a:rPr>
              <a:t>A conta veio: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CC0000"/>
                </a:solidFill>
              </a:rPr>
              <a:t>NPS -64,</a:t>
            </a:r>
            <a:r>
              <a:rPr lang="en" sz="1600">
                <a:solidFill>
                  <a:srgbClr val="CC0000"/>
                </a:solidFill>
              </a:rPr>
              <a:t> </a:t>
            </a:r>
            <a:r>
              <a:rPr lang="en" sz="1600">
                <a:solidFill>
                  <a:schemeClr val="lt2"/>
                </a:solidFill>
              </a:rPr>
              <a:t>com um total de </a:t>
            </a:r>
            <a:r>
              <a:rPr lang="en" sz="1600">
                <a:solidFill>
                  <a:schemeClr val="accent4"/>
                </a:solidFill>
              </a:rPr>
              <a:t>73% detratores</a:t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lt2"/>
                </a:solidFill>
              </a:rPr>
              <a:t>Nota dos atendimentos (CSAT):</a:t>
            </a:r>
            <a:r>
              <a:rPr b="1" lang="en" sz="2200">
                <a:solidFill>
                  <a:srgbClr val="CC0000"/>
                </a:solidFill>
              </a:rPr>
              <a:t> </a:t>
            </a:r>
            <a:r>
              <a:rPr lang="en" sz="1600">
                <a:solidFill>
                  <a:schemeClr val="accent4"/>
                </a:solidFill>
              </a:rPr>
              <a:t>75% ficou abaixo de 5</a:t>
            </a:r>
            <a:endParaRPr sz="1600">
              <a:solidFill>
                <a:schemeClr val="accent4"/>
              </a:solidFill>
            </a:endParaRPr>
          </a:p>
        </p:txBody>
      </p:sp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EDA - Exploratory Data Analysis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17"/>
          <p:cNvGrpSpPr/>
          <p:nvPr/>
        </p:nvGrpSpPr>
        <p:grpSpPr>
          <a:xfrm>
            <a:off x="0" y="0"/>
            <a:ext cx="9144000" cy="5143501"/>
            <a:chOff x="0" y="0"/>
            <a:chExt cx="9144000" cy="5143501"/>
          </a:xfrm>
        </p:grpSpPr>
        <p:sp>
          <p:nvSpPr>
            <p:cNvPr id="97" name="Google Shape;97;p17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8" name="Google Shape;98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5850" y="0"/>
              <a:ext cx="3732300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311700" y="1152475"/>
            <a:ext cx="8520600" cy="3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2"/>
                </a:solidFill>
              </a:rPr>
              <a:t>Identificamos correlações entre </a:t>
            </a:r>
            <a:r>
              <a:rPr lang="en" sz="1700">
                <a:solidFill>
                  <a:schemeClr val="lt2"/>
                </a:solidFill>
              </a:rPr>
              <a:t>algumas </a:t>
            </a:r>
            <a:r>
              <a:rPr lang="en" sz="1700">
                <a:solidFill>
                  <a:schemeClr val="lt2"/>
                </a:solidFill>
              </a:rPr>
              <a:t>variáveis e o Score NPS </a:t>
            </a:r>
            <a:endParaRPr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2"/>
                </a:solidFill>
              </a:rPr>
              <a:t>Maior impacto no </a:t>
            </a:r>
            <a:r>
              <a:rPr b="1" lang="en" sz="1700">
                <a:solidFill>
                  <a:schemeClr val="lt2"/>
                </a:solidFill>
              </a:rPr>
              <a:t>pós venda:</a:t>
            </a:r>
            <a:r>
              <a:rPr lang="en" sz="1700">
                <a:solidFill>
                  <a:schemeClr val="lt2"/>
                </a:solidFill>
              </a:rPr>
              <a:t> atrasos, reclamações, tempo de resolução e quantidade de contatos</a:t>
            </a:r>
            <a:endParaRPr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chemeClr val="lt2"/>
                </a:solidFill>
              </a:rPr>
              <a:t>“Qual o impacto dessas variáveis no % de Detratores?”</a:t>
            </a:r>
            <a:endParaRPr i="1" sz="17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chemeClr val="lt2"/>
              </a:solidFill>
            </a:endParaRPr>
          </a:p>
        </p:txBody>
      </p:sp>
      <p:sp>
        <p:nvSpPr>
          <p:cNvPr id="100" name="Google Shape;10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EDA - Exploratory Data Analysis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8975" y="3223150"/>
            <a:ext cx="1649452" cy="17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1603" y="3223156"/>
            <a:ext cx="1778675" cy="1703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2425" y="3223150"/>
            <a:ext cx="1660481" cy="1704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932425" y="2849450"/>
            <a:ext cx="1660500" cy="8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2"/>
                </a:solidFill>
              </a:rPr>
              <a:t>Compra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05" name="Google Shape;105;p17"/>
          <p:cNvSpPr txBox="1"/>
          <p:nvPr>
            <p:ph idx="1" type="body"/>
          </p:nvPr>
        </p:nvSpPr>
        <p:spPr>
          <a:xfrm>
            <a:off x="3290688" y="2849450"/>
            <a:ext cx="1660500" cy="8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2"/>
                </a:solidFill>
              </a:rPr>
              <a:t>Entrega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06" name="Google Shape;106;p17"/>
          <p:cNvSpPr txBox="1"/>
          <p:nvPr>
            <p:ph idx="1" type="body"/>
          </p:nvPr>
        </p:nvSpPr>
        <p:spPr>
          <a:xfrm>
            <a:off x="5648938" y="2849450"/>
            <a:ext cx="1660500" cy="80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2"/>
                </a:solidFill>
              </a:rPr>
              <a:t>Pós-Venda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111;p18"/>
          <p:cNvGrpSpPr/>
          <p:nvPr/>
        </p:nvGrpSpPr>
        <p:grpSpPr>
          <a:xfrm>
            <a:off x="0" y="0"/>
            <a:ext cx="9144000" cy="5143501"/>
            <a:chOff x="0" y="0"/>
            <a:chExt cx="9144000" cy="5143501"/>
          </a:xfrm>
        </p:grpSpPr>
        <p:sp>
          <p:nvSpPr>
            <p:cNvPr id="112" name="Google Shape;112;p18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3" name="Google Shape;113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5850" y="0"/>
              <a:ext cx="3732300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311700" y="1255687"/>
            <a:ext cx="7210500" cy="36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lt2"/>
                </a:solidFill>
              </a:rPr>
              <a:t>Tabelas de Contingência: primeira reclamação / dia de atraso / contato no atendimento têm impacto nos Detratores menor que a segunda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15" name="Google Shape;11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EDA - Exploratory Data Analysis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116" name="Google Shape;116;p18"/>
          <p:cNvPicPr preferRelativeResize="0"/>
          <p:nvPr/>
        </p:nvPicPr>
        <p:blipFill rotWithShape="1">
          <a:blip r:embed="rId4">
            <a:alphaModFix/>
          </a:blip>
          <a:srcRect b="0" l="0" r="19595" t="0"/>
          <a:stretch/>
        </p:blipFill>
        <p:spPr>
          <a:xfrm>
            <a:off x="3114090" y="2430392"/>
            <a:ext cx="5594244" cy="2563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 rotWithShape="1">
          <a:blip r:embed="rId5">
            <a:alphaModFix/>
          </a:blip>
          <a:srcRect b="0" l="0" r="19595" t="0"/>
          <a:stretch/>
        </p:blipFill>
        <p:spPr>
          <a:xfrm>
            <a:off x="359198" y="3763556"/>
            <a:ext cx="2664019" cy="1220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8"/>
          <p:cNvPicPr preferRelativeResize="0"/>
          <p:nvPr/>
        </p:nvPicPr>
        <p:blipFill rotWithShape="1">
          <a:blip r:embed="rId6">
            <a:alphaModFix/>
          </a:blip>
          <a:srcRect b="0" l="0" r="19595" t="0"/>
          <a:stretch/>
        </p:blipFill>
        <p:spPr>
          <a:xfrm>
            <a:off x="359201" y="2440161"/>
            <a:ext cx="2664019" cy="1220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 rotWithShape="1">
          <a:blip r:embed="rId4">
            <a:alphaModFix/>
          </a:blip>
          <a:srcRect b="50651" l="82826" r="0" t="8385"/>
          <a:stretch/>
        </p:blipFill>
        <p:spPr>
          <a:xfrm>
            <a:off x="7678153" y="1426350"/>
            <a:ext cx="1030195" cy="905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" name="Google Shape;124;p19"/>
          <p:cNvGrpSpPr/>
          <p:nvPr/>
        </p:nvGrpSpPr>
        <p:grpSpPr>
          <a:xfrm>
            <a:off x="0" y="0"/>
            <a:ext cx="9144000" cy="5143501"/>
            <a:chOff x="0" y="0"/>
            <a:chExt cx="9144000" cy="5143501"/>
          </a:xfrm>
        </p:grpSpPr>
        <p:sp>
          <p:nvSpPr>
            <p:cNvPr id="125" name="Google Shape;125;p19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6" name="Google Shape;126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5850" y="0"/>
              <a:ext cx="3732300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311700" y="1487697"/>
            <a:ext cx="3325500" cy="286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</a:rPr>
              <a:t>To Do’s diretos para Logística e Atendimento:</a:t>
            </a:r>
            <a:endParaRPr sz="16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2"/>
                </a:solidFill>
              </a:rPr>
              <a:t>1 dia de atraso =</a:t>
            </a:r>
            <a:r>
              <a:rPr lang="en" sz="1600">
                <a:solidFill>
                  <a:schemeClr val="accent4"/>
                </a:solidFill>
              </a:rPr>
              <a:t> </a:t>
            </a:r>
            <a:r>
              <a:rPr b="1" lang="en" sz="1600">
                <a:solidFill>
                  <a:schemeClr val="accent4"/>
                </a:solidFill>
              </a:rPr>
              <a:t>-1</a:t>
            </a:r>
            <a:r>
              <a:rPr lang="en" sz="1600">
                <a:solidFill>
                  <a:schemeClr val="accent4"/>
                </a:solidFill>
              </a:rPr>
              <a:t> no NPS</a:t>
            </a:r>
            <a:endParaRPr sz="16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2"/>
                </a:solidFill>
              </a:rPr>
              <a:t>Cada reclamação = </a:t>
            </a:r>
            <a:r>
              <a:rPr b="1" lang="en" sz="1600">
                <a:solidFill>
                  <a:schemeClr val="accent4"/>
                </a:solidFill>
              </a:rPr>
              <a:t>-0,4</a:t>
            </a:r>
            <a:endParaRPr b="1" sz="16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</a:rPr>
              <a:t>Cada novo atendimento = </a:t>
            </a:r>
            <a:r>
              <a:rPr b="1" lang="en" sz="1600">
                <a:solidFill>
                  <a:schemeClr val="accent4"/>
                </a:solidFill>
              </a:rPr>
              <a:t>-0,3</a:t>
            </a:r>
            <a:endParaRPr b="1" sz="16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chemeClr val="accent4"/>
                </a:solidFill>
              </a:rPr>
              <a:t>Resolver o problema do cliente até o primeiro atendimento</a:t>
            </a:r>
            <a:endParaRPr b="1" sz="1600">
              <a:solidFill>
                <a:schemeClr val="accent4"/>
              </a:solidFill>
            </a:endParaRPr>
          </a:p>
        </p:txBody>
      </p:sp>
      <p:sp>
        <p:nvSpPr>
          <p:cNvPr id="128" name="Google Shape;12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Regressão Múltipla + Feature Selection (VIF)</a:t>
            </a:r>
            <a:endParaRPr>
              <a:solidFill>
                <a:schemeClr val="lt2"/>
              </a:solidFill>
            </a:endParaRPr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8000" y="1255676"/>
            <a:ext cx="6057375" cy="369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/>
          <p:cNvPicPr preferRelativeResize="0"/>
          <p:nvPr/>
        </p:nvPicPr>
        <p:blipFill rotWithShape="1">
          <a:blip r:embed="rId4">
            <a:alphaModFix/>
          </a:blip>
          <a:srcRect b="23702" l="0" r="57845" t="46178"/>
          <a:stretch/>
        </p:blipFill>
        <p:spPr>
          <a:xfrm>
            <a:off x="3637200" y="2447375"/>
            <a:ext cx="3809350" cy="1660175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20"/>
          <p:cNvGrpSpPr/>
          <p:nvPr/>
        </p:nvGrpSpPr>
        <p:grpSpPr>
          <a:xfrm>
            <a:off x="0" y="0"/>
            <a:ext cx="9144000" cy="5143501"/>
            <a:chOff x="0" y="0"/>
            <a:chExt cx="9144000" cy="5143501"/>
          </a:xfrm>
        </p:grpSpPr>
        <p:sp>
          <p:nvSpPr>
            <p:cNvPr id="136" name="Google Shape;136;p20"/>
            <p:cNvSpPr/>
            <p:nvPr/>
          </p:nvSpPr>
          <p:spPr>
            <a:xfrm>
              <a:off x="0" y="0"/>
              <a:ext cx="9144000" cy="514350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7" name="Google Shape;137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705850" y="0"/>
              <a:ext cx="3732300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8" name="Google Shape;138;p20"/>
          <p:cNvSpPr txBox="1"/>
          <p:nvPr>
            <p:ph type="title"/>
          </p:nvPr>
        </p:nvSpPr>
        <p:spPr>
          <a:xfrm>
            <a:off x="311700" y="2571750"/>
            <a:ext cx="8520600" cy="172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Obrigado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